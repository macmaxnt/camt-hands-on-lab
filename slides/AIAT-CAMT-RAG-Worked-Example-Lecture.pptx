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2ea2497704e1e" /><Relationship Type="http://schemas.openxmlformats.org/officeDocument/2006/relationships/extended-properties" Target="/docProps/app.xml" Id="Ref3572710c144282" /><Relationship Type="http://schemas.openxmlformats.org/officeDocument/2006/relationships/officeDocument" Target="/ppt/presentation.xml" Id="R665a822975804e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aa51c61cf04cd1"/>
  </p:sldMasterIdLst>
  <p:notesMasterIdLst>
    <p:notesMasterId xmlns:r="http://schemas.openxmlformats.org/officeDocument/2006/relationships" r:id="R3f05e7357d58439b"/>
  </p:notesMasterIdLst>
  <p:sldIdLst>
    <p:sldId xmlns:r="http://schemas.openxmlformats.org/officeDocument/2006/relationships" id="256" r:id="R387a96182285458c"/>
    <p:sldId xmlns:r="http://schemas.openxmlformats.org/officeDocument/2006/relationships" id="257" r:id="Re74f6c2f429047de"/>
    <p:sldId xmlns:r="http://schemas.openxmlformats.org/officeDocument/2006/relationships" id="258" r:id="R1f0b408a516f43cd"/>
    <p:sldId xmlns:r="http://schemas.openxmlformats.org/officeDocument/2006/relationships" id="259" r:id="Rde235e3d85194883"/>
    <p:sldId xmlns:r="http://schemas.openxmlformats.org/officeDocument/2006/relationships" id="260" r:id="Re62676b1e4e841c4"/>
    <p:sldId xmlns:r="http://schemas.openxmlformats.org/officeDocument/2006/relationships" id="261" r:id="Rb145809107a643dd"/>
    <p:sldId xmlns:r="http://schemas.openxmlformats.org/officeDocument/2006/relationships" id="262" r:id="R39e7dc954b6f4f85"/>
    <p:sldId xmlns:r="http://schemas.openxmlformats.org/officeDocument/2006/relationships" id="263" r:id="Ra49d9b0691204db7"/>
    <p:sldId xmlns:r="http://schemas.openxmlformats.org/officeDocument/2006/relationships" id="264" r:id="R483e65d790e64911"/>
    <p:sldId xmlns:r="http://schemas.openxmlformats.org/officeDocument/2006/relationships" id="265" r:id="R1c7b98caa076423f"/>
    <p:sldId xmlns:r="http://schemas.openxmlformats.org/officeDocument/2006/relationships" id="266" r:id="R03bbb8b417414ebd"/>
    <p:sldId xmlns:r="http://schemas.openxmlformats.org/officeDocument/2006/relationships" id="267" r:id="Rd940621503224719"/>
    <p:sldId xmlns:r="http://schemas.openxmlformats.org/officeDocument/2006/relationships" id="268" r:id="R18428d4b00d3410c"/>
    <p:sldId xmlns:r="http://schemas.openxmlformats.org/officeDocument/2006/relationships" id="269" r:id="R62748fc1b4564850"/>
    <p:sldId xmlns:r="http://schemas.openxmlformats.org/officeDocument/2006/relationships" id="270" r:id="R61e7b3bcc7b0467c"/>
    <p:sldId xmlns:r="http://schemas.openxmlformats.org/officeDocument/2006/relationships" id="271" r:id="Ree77be7dc3534153"/>
    <p:sldId xmlns:r="http://schemas.openxmlformats.org/officeDocument/2006/relationships" id="272" r:id="R7d3cad90618246ac"/>
    <p:sldId xmlns:r="http://schemas.openxmlformats.org/officeDocument/2006/relationships" id="273" r:id="Re5f0092efbf24ef9"/>
    <p:sldId xmlns:r="http://schemas.openxmlformats.org/officeDocument/2006/relationships" id="274" r:id="R9b3fa95a783442ea"/>
    <p:sldId xmlns:r="http://schemas.openxmlformats.org/officeDocument/2006/relationships" id="275" r:id="Rbb529ee417c447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f7d94ee0d8460c" /><Relationship Type="http://schemas.openxmlformats.org/officeDocument/2006/relationships/slideMaster" Target="/ppt/slideMasters/slideMaster1.xml" Id="R3aaa51c61cf04cd1" /><Relationship Type="http://schemas.openxmlformats.org/officeDocument/2006/relationships/notesMaster" Target="/ppt/notesMasters/notesMaster1.xml" Id="R3f05e7357d58439b" /><Relationship Type="http://schemas.openxmlformats.org/officeDocument/2006/relationships/presProps" Target="/ppt/presProps.xml" Id="Ra16f5d41b36c458f" /><Relationship Type="http://schemas.openxmlformats.org/officeDocument/2006/relationships/tableStyles" Target="/ppt/tableStyles.xml" Id="R1718e0e656ff4313" /><Relationship Type="http://schemas.openxmlformats.org/officeDocument/2006/relationships/slide" Target="/ppt/slides/slide1.xml" Id="R387a96182285458c" /><Relationship Type="http://schemas.openxmlformats.org/officeDocument/2006/relationships/slide" Target="/ppt/slides/slide2.xml" Id="Re74f6c2f429047de" /><Relationship Type="http://schemas.openxmlformats.org/officeDocument/2006/relationships/slide" Target="/ppt/slides/slide3.xml" Id="R1f0b408a516f43cd" /><Relationship Type="http://schemas.openxmlformats.org/officeDocument/2006/relationships/slide" Target="/ppt/slides/slide4.xml" Id="Rde235e3d85194883" /><Relationship Type="http://schemas.openxmlformats.org/officeDocument/2006/relationships/slide" Target="/ppt/slides/slide5.xml" Id="Re62676b1e4e841c4" /><Relationship Type="http://schemas.openxmlformats.org/officeDocument/2006/relationships/slide" Target="/ppt/slides/slide6.xml" Id="Rb145809107a643dd" /><Relationship Type="http://schemas.openxmlformats.org/officeDocument/2006/relationships/slide" Target="/ppt/slides/slide7.xml" Id="R39e7dc954b6f4f85" /><Relationship Type="http://schemas.openxmlformats.org/officeDocument/2006/relationships/slide" Target="/ppt/slides/slide8.xml" Id="Ra49d9b0691204db7" /><Relationship Type="http://schemas.openxmlformats.org/officeDocument/2006/relationships/slide" Target="/ppt/slides/slide9.xml" Id="R483e65d790e64911" /><Relationship Type="http://schemas.openxmlformats.org/officeDocument/2006/relationships/slide" Target="/ppt/slides/slide10.xml" Id="R1c7b98caa076423f" /><Relationship Type="http://schemas.openxmlformats.org/officeDocument/2006/relationships/slide" Target="/ppt/slides/slide11.xml" Id="R03bbb8b417414ebd" /><Relationship Type="http://schemas.openxmlformats.org/officeDocument/2006/relationships/slide" Target="/ppt/slides/slide12.xml" Id="Rd940621503224719" /><Relationship Type="http://schemas.openxmlformats.org/officeDocument/2006/relationships/slide" Target="/ppt/slides/slide13.xml" Id="R18428d4b00d3410c" /><Relationship Type="http://schemas.openxmlformats.org/officeDocument/2006/relationships/slide" Target="/ppt/slides/slide14.xml" Id="R62748fc1b4564850" /><Relationship Type="http://schemas.openxmlformats.org/officeDocument/2006/relationships/slide" Target="/ppt/slides/slide15.xml" Id="R61e7b3bcc7b0467c" /><Relationship Type="http://schemas.openxmlformats.org/officeDocument/2006/relationships/slide" Target="/ppt/slides/slide16.xml" Id="Ree77be7dc3534153" /><Relationship Type="http://schemas.openxmlformats.org/officeDocument/2006/relationships/slide" Target="/ppt/slides/slide17.xml" Id="R7d3cad90618246ac" /><Relationship Type="http://schemas.openxmlformats.org/officeDocument/2006/relationships/slide" Target="/ppt/slides/slide18.xml" Id="Re5f0092efbf24ef9" /><Relationship Type="http://schemas.openxmlformats.org/officeDocument/2006/relationships/slide" Target="/ppt/slides/slide19.xml" Id="R9b3fa95a783442ea" /><Relationship Type="http://schemas.openxmlformats.org/officeDocument/2006/relationships/slide" Target="/ppt/slides/slide20.xml" Id="Rbb529ee417c4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9ddb823eba45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f378902264430f" /><Relationship Type="http://schemas.openxmlformats.org/officeDocument/2006/relationships/notesMaster" Target="/ppt/notesMasters/notesMaster1.xml" Id="R16e30c92f524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32ea6b7a14b57" /><Relationship Type="http://schemas.openxmlformats.org/officeDocument/2006/relationships/notesMaster" Target="/ppt/notesMasters/notesMaster1.xml" Id="R990e35ded5b8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4af36a233c4148" /><Relationship Type="http://schemas.openxmlformats.org/officeDocument/2006/relationships/notesMaster" Target="/ppt/notesMasters/notesMaster1.xml" Id="R218b99f2bfe249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0f0d40ec24d6a" /><Relationship Type="http://schemas.openxmlformats.org/officeDocument/2006/relationships/notesMaster" Target="/ppt/notesMasters/notesMaster1.xml" Id="Rb9c39cb52134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f6f6126e324a96" /><Relationship Type="http://schemas.openxmlformats.org/officeDocument/2006/relationships/notesMaster" Target="/ppt/notesMasters/notesMaster1.xml" Id="Redf86b13c4214d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b640229905439d" /><Relationship Type="http://schemas.openxmlformats.org/officeDocument/2006/relationships/notesMaster" Target="/ppt/notesMasters/notesMaster1.xml" Id="Rc5485e83700f40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b9a7b142614362" /><Relationship Type="http://schemas.openxmlformats.org/officeDocument/2006/relationships/notesMaster" Target="/ppt/notesMasters/notesMaster1.xml" Id="R669c78d823c243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e777a80773424b" /><Relationship Type="http://schemas.openxmlformats.org/officeDocument/2006/relationships/notesMaster" Target="/ppt/notesMasters/notesMaster1.xml" Id="R3cfcb11f90654f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5d1a20552445a3" /><Relationship Type="http://schemas.openxmlformats.org/officeDocument/2006/relationships/notesMaster" Target="/ppt/notesMasters/notesMaster1.xml" Id="R77e6e926283940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82335864484bf3" /><Relationship Type="http://schemas.openxmlformats.org/officeDocument/2006/relationships/notesMaster" Target="/ppt/notesMasters/notesMaster1.xml" Id="Rc9317a6beb684e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9e36e1b2a54f73" /><Relationship Type="http://schemas.openxmlformats.org/officeDocument/2006/relationships/notesMaster" Target="/ppt/notesMasters/notesMaster1.xml" Id="R2ca870fd51764a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0c4bb4da8147d2" /><Relationship Type="http://schemas.openxmlformats.org/officeDocument/2006/relationships/notesMaster" Target="/ppt/notesMasters/notesMaster1.xml" Id="R2dc5fe85376f4e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49c0860b104cd9" /><Relationship Type="http://schemas.openxmlformats.org/officeDocument/2006/relationships/notesMaster" Target="/ppt/notesMasters/notesMaster1.xml" Id="R7617420b82944e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c2e94b460b4b70" /><Relationship Type="http://schemas.openxmlformats.org/officeDocument/2006/relationships/notesMaster" Target="/ppt/notesMasters/notesMaster1.xml" Id="R02efc902f9ba46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a9598bffb14cc9" /><Relationship Type="http://schemas.openxmlformats.org/officeDocument/2006/relationships/notesMaster" Target="/ppt/notesMasters/notesMaster1.xml" Id="Rf7ae8497419141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8f737dae4c46a1" /><Relationship Type="http://schemas.openxmlformats.org/officeDocument/2006/relationships/notesMaster" Target="/ppt/notesMasters/notesMaster1.xml" Id="R0488b620fcaa41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845960860f414e" /><Relationship Type="http://schemas.openxmlformats.org/officeDocument/2006/relationships/notesMaster" Target="/ppt/notesMasters/notesMaster1.xml" Id="R4c4dd03273ea4d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5aab1fdd14486b" /><Relationship Type="http://schemas.openxmlformats.org/officeDocument/2006/relationships/notesMaster" Target="/ppt/notesMasters/notesMaster1.xml" Id="R62c91e187f394b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7d484c333844be" /><Relationship Type="http://schemas.openxmlformats.org/officeDocument/2006/relationships/notesMaster" Target="/ppt/notesMasters/notesMaster1.xml" Id="Rbb0c0e0cfe82415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424bfbc71a4f79" /><Relationship Type="http://schemas.openxmlformats.org/officeDocument/2006/relationships/notesMaster" Target="/ppt/notesMasters/notesMaster1.xml" Id="Rbae81d227a7b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agenda. The running case comes from the UNESCO human-agency reading.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process illustration. Use the running question and the approved UNESCO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facilitator/retrieval-first-principles.md. No external source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  <a:p xmlns:a="http://schemas.openxmlformats.org/drawingml/2006/main">
            <a:r>
              <a:t>Semantic explanation uses the lab's fallback index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  <a:p xmlns:a="http://schemas.openxmlformats.org/drawingml/2006/main">
            <a:r>
              <a:t>Chunk IDs shown are from rag-session-kit/data/parsed/unesco-genai-guidance-chunks.jsonl.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  <a:p xmlns:a="http://schemas.openxmlformats.org/drawingml/2006/main">
            <a:r>
              <a:t>Ranking is illustrative. Chunk identifiers are real local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placeholder. The Colab URL is not yet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facilitator/retrieval-first-principles.md.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UNESCO (2023), Guidance for generative AI in education and research, p. 21. https://unesdoc.unesco.org/ark:/48223/pf0000386693. CC BY-SA 3.0 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local deterministic AnswerResult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15-minute break.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Generic web architecture for instructional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facilitator/architecture.md and the local Lab 1 app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 placeholder. The GitHub Classroom assignment URL is not yet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c089601a543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4ee76ea574b2a" /><Relationship Type="http://schemas.openxmlformats.org/officeDocument/2006/relationships/slideLayout" Target="/ppt/slideLayouts/slideLayout1.xml" Id="R6b37d3ce3b9e41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7d3ce3b9e41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3be797aec42bc" /><Relationship Type="http://schemas.openxmlformats.org/officeDocument/2006/relationships/notesSlide" Target="/ppt/notesSlides/notesSlide1.xml" Id="R83f9d8bbe76b4c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e9e51e5ce4d70" /><Relationship Type="http://schemas.openxmlformats.org/officeDocument/2006/relationships/notesSlide" Target="/ppt/notesSlides/notesSlide2.xml" Id="R3942122b50684c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438b22d91442b" /><Relationship Type="http://schemas.openxmlformats.org/officeDocument/2006/relationships/notesSlide" Target="/ppt/notesSlides/notesSlide3.xml" Id="Rd3da274d9f8547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11c1150bc43f7" /><Relationship Type="http://schemas.openxmlformats.org/officeDocument/2006/relationships/notesSlide" Target="/ppt/notesSlides/notesSlide4.xml" Id="R10afaa77da3748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6e36ca7964743" /><Relationship Type="http://schemas.openxmlformats.org/officeDocument/2006/relationships/notesSlide" Target="/ppt/notesSlides/notesSlide5.xml" Id="R1949d99f436f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5864a92ae4410" /><Relationship Type="http://schemas.openxmlformats.org/officeDocument/2006/relationships/notesSlide" Target="/ppt/notesSlides/notesSlide6.xml" Id="Ra589fed5c1d14c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131f7f4a54cfa" /><Relationship Type="http://schemas.openxmlformats.org/officeDocument/2006/relationships/notesSlide" Target="/ppt/notesSlides/notesSlide7.xml" Id="R18873b6c83eb49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08d7f2dbc433c" /><Relationship Type="http://schemas.openxmlformats.org/officeDocument/2006/relationships/notesSlide" Target="/ppt/notesSlides/notesSlide8.xml" Id="R9be1c897525746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7380075294ad5" /><Relationship Type="http://schemas.openxmlformats.org/officeDocument/2006/relationships/notesSlide" Target="/ppt/notesSlides/notesSlide9.xml" Id="Rcd2008822e0a49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f364ce40d45a1" /><Relationship Type="http://schemas.openxmlformats.org/officeDocument/2006/relationships/notesSlide" Target="/ppt/notesSlides/notesSlide10.xml" Id="Rf4d3a323adf144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32e6a3515413f" /><Relationship Type="http://schemas.openxmlformats.org/officeDocument/2006/relationships/notesSlide" Target="/ppt/notesSlides/notesSlide11.xml" Id="Rcdf25687fafa4d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eaa6358234488" /><Relationship Type="http://schemas.openxmlformats.org/officeDocument/2006/relationships/notesSlide" Target="/ppt/notesSlides/notesSlide12.xml" Id="R0dcbf0be698a49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92946ee446c2" /><Relationship Type="http://schemas.openxmlformats.org/officeDocument/2006/relationships/notesSlide" Target="/ppt/notesSlides/notesSlide13.xml" Id="R2efcc625a52248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8bb3a78a34d5c" /><Relationship Type="http://schemas.openxmlformats.org/officeDocument/2006/relationships/notesSlide" Target="/ppt/notesSlides/notesSlide14.xml" Id="Rec2316350fb94e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355ee9baf49a0" /><Relationship Type="http://schemas.openxmlformats.org/officeDocument/2006/relationships/notesSlide" Target="/ppt/notesSlides/notesSlide15.xml" Id="R581aae2a227d45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1ccc622114c59" /><Relationship Type="http://schemas.openxmlformats.org/officeDocument/2006/relationships/notesSlide" Target="/ppt/notesSlides/notesSlide16.xml" Id="R1043fcb2c33b45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9a879664d4839" /><Relationship Type="http://schemas.openxmlformats.org/officeDocument/2006/relationships/notesSlide" Target="/ppt/notesSlides/notesSlide17.xml" Id="R0f22bb97948548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8b6a5c35b4b97" /><Relationship Type="http://schemas.openxmlformats.org/officeDocument/2006/relationships/notesSlide" Target="/ppt/notesSlides/notesSlide18.xml" Id="R8c722da5c73b47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5d87bc52d44b0" /><Relationship Type="http://schemas.openxmlformats.org/officeDocument/2006/relationships/notesSlide" Target="/ppt/notesSlides/notesSlide19.xml" Id="Radc74028b82d44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0ccf4d36f449b" /><Relationship Type="http://schemas.openxmlformats.org/officeDocument/2006/relationships/notesSlide" Target="/ppt/notesSlides/notesSlide20.xml" Id="R8dca0969993745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BB89E-E8EE-4F45-A83D-BA2F0DEF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625B9-6A1F-44C2-85AA-274ED9F7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A22F7-6F08-4690-BF77-5970059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RAG lecture and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E4901-C028-4EAE-A795-0C4285B6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การบรรยายและกิจกรรมปฏิบัติการ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54B16-7C61-428B-9411-D11B518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FAAD4-5BC3-4CB8-9F8D-043AF6C6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57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5B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9695A-3E44-4C7E-8718-EBCD3E7A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62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Theory through one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70B47-56E2-4B01-A616-2637B2E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907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เริ่มจากคำถามและหลักฐานจริง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58843-B92C-4B26-BB1C-DEEF8EAD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05075"/>
            <a:ext cx="19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7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31AA2-8E79-4F96-A58D-931501F2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F1419-D167-4BE6-AC7E-A79E5206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33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49F47-482C-4A16-9EAA-04A0B79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38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Break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D58D9-59D1-4759-B020-8318ADC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67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พัก 15 นาที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F390D-1D94-43CB-9559-6A1C0B18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81375"/>
            <a:ext cx="19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7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9B449-C0B4-4756-B0AC-4E9D076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8A445-23DE-49ED-8FDD-E0A90579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10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5B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F3E04-EDBF-4E1B-BA64-D90DA905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147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RAG application 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AC383-AFEE-40ED-AFE7-FEDBE5C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433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รู้จักองค์ประกอบก่อนเขียนโค้ด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FAC19-FF8B-453A-BE29-CF84D992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57675"/>
            <a:ext cx="190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7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5D8AA-7283-4822-B73A-964AE542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3952B-A862-47DD-AAC0-3BC45730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5B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AB6CD-E8E8-4C6E-B588-3620DB6F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91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Lab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125B6-DBA1-4C1E-AC10-A24D172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196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สร้าง RAG application จาก GitHub Classroom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6CB73-2756-4751-A684-85829713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674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42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Running case / กรณีศึกษาตลอดบทเรียน: Who remains responsible when AI gives advice?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B7895-B37F-446B-B5D3-36DECD9E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01 / 20  Agenda</a:t>
            </a:r>
          </a:p>
        </p:txBody>
      </p:sp>
    </p:spTree>
    <p:extLst>
      <p:ext uri="{BB962C8B-B14F-4D97-AF65-F5344CB8AC3E}">
        <p14:creationId xmlns:p14="http://schemas.microsoft.com/office/powerpoint/2010/main" val="19645305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7E506-B46C-4411-98F7-B96DFAC7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F3B9-8841-4979-943F-0DBCB295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D7754-83AB-4342-AEEE-15AA0A3D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Fluent answers need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9C861-141D-4AB3-9653-3DD7C9A6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คำตอบที่ลื่นไหลต้องมีหลักฐานรองรับ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EE500-502B-4584-AB3D-3F0E06D2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7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Same question. Two very different answer qualities.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3A0F2-4487-405A-9220-7D69A76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7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7915E-217B-4EEB-BC48-FC44D507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000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846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B63846"/>
                </a:solidFill>
                <a:latin typeface="Thonburi"/>
                <a:ea typeface="Thonburi"/>
                <a:cs typeface="Thonburi"/>
              </a:rPr>
              <a:t>WITHOUT 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2488A-B47D-4368-8D6C-6BDFA0F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75" b="0" i="1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“The AI system is responsible for its own advice.”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5E58D-C3C7-40CC-8F2E-2D192B0E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3952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5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No approved source. No evidence for the claim. Learners cannot inspect the reasoning.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999F4-A526-4F52-9F63-54601EBD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67251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267251"/>
                </a:solidFill>
                <a:latin typeface="Thonburi"/>
                <a:ea typeface="Thonburi"/>
                <a:cs typeface="Thonburi"/>
              </a:rPr>
              <a:t>WITH RETRIEVAL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0DC7B-E5F1-4C2B-9B80-9B0EB011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67"/>
          </a:bodyPr>
          <a:lstStyle xmlns:a="http://schemas.openxmlformats.org/drawingml/2006/main"/>
          <a:p xmlns:a="http://schemas.openxmlformats.org/drawingml/2006/main">
            <a:pPr>
              <a:defRPr sz="1875" b="0" i="1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75" b="0" i="1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“People remain responsible for decisions that affect them.”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B4EB2-DEBC-4FF1-82B9-012BCD00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The response links the claim to approved context, a source title, page, and excerpt.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35F0B-E18D-4C5E-AE27-789FE499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66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The difference is not wording. The difference is the evidence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63364-1A9E-4A46-99D9-2355DFF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56DBB-7D45-4D51-BBCA-0B2304EA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02 / 20  Motivation</a:t>
            </a:r>
          </a:p>
        </p:txBody>
      </p:sp>
    </p:spTree>
    <p:extLst>
      <p:ext uri="{BB962C8B-B14F-4D97-AF65-F5344CB8AC3E}">
        <p14:creationId xmlns:p14="http://schemas.microsoft.com/office/powerpoint/2010/main" val="200835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0588E-1352-4AEC-88A1-C66DFC2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0271F-BAE7-4C93-95E5-877F296F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2EE09-1D92-4718-BE91-EC92197A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The running question and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EA1B2-57F0-4CEF-929E-CA263A3B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คำถามและแหล่งข้อมูลที่ใช้ตลอดบทเรียน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A52CC-6291-4400-B088-DAA2DC4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76750" cy="2524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475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7D505-512E-4ED6-941C-9C338EF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619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LEARNER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F7B79-00DD-4D99-9F15-370C2FF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When an AI assistant gives advice in education, who remains responsible for the decision?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FCDC3-34F3-4310-9808-F3F315DC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เมื่อผู้ช่วย AI ให้คำแนะนำในการศึกษา ใครยังต้องรับผิดชอบต่อการตัดสินใจ?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E8A8D-9344-46FD-9307-1B439D79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36245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629A-660F-4858-BC99-5AB6A120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1666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APPROVED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63739-4FC6-40CE-A5B3-BE3C91C2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350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Human-centred use of GenAI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59CE-BAFD-43D2-BE6A-A8C1136D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53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Guidance for generative AI in education and research</a:t>
            </a:r>
          </a:p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 | page 21 | chunk human-centred-01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6ED50-18AC-4E88-9812-E6835FBC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8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Evidence first: select context that the learner can inspect.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1CCE3-61E9-46F2-985E-A8879DC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77FD9-74B3-4D2D-9048-F83F5902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03 / 20  Running case</a:t>
            </a:r>
          </a:p>
        </p:txBody>
      </p:sp>
    </p:spTree>
    <p:extLst>
      <p:ext uri="{BB962C8B-B14F-4D97-AF65-F5344CB8AC3E}">
        <p14:creationId xmlns:p14="http://schemas.microsoft.com/office/powerpoint/2010/main" val="1719933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062B5-76EC-470B-8F43-97614F3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DFF9E-8E16-4855-8B66-B3EDDFC2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F2145-B895-49EC-8759-67F50177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RAG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7D1BE-D963-421E-BCDF-30D5E3E9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ลำดับการทำงานของ 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B7BB-E3ED-4E15-8BE1-A316A72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7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The running case moves through five jobs.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A74CF-E604-4863-B418-9DD83D50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F1C16-FC9C-4562-AB8C-95AE50E2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4D36A-84C3-4D9B-AEC3-40AFBC6F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คำถาม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60934-E8B9-4067-9569-E0631816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0375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B6F6C-1F66-4924-A4B7-2D201A76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147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Retrieve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FDCAC-632F-4F2E-AD9D-831A0BE8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338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ค้นหลักฐาน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FEA3E-B250-4603-A374-E7AFBA5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AF651-FD7D-4A41-B135-F18432EB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147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6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Assemble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F70F2-30CF-4B39-8913-EEFD8F4A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338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รวมบริบท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B1F47-CFE0-4372-BD9A-82A7115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00375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D3865-215C-48ED-8C56-B71D4447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147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Generate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00E9D-3A88-4C7A-A5C5-2068425C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338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สร้างคำตอบ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939F9-298C-4CA5-B94A-29AA5E2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1714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CEDBE-D929-4D2B-A37C-8E6A7C54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63E94-CE3A-4680-BF60-3277B3D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อ้างอิง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19350" y="3629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57725" y="3629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96100" y="3629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34475" y="3629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DD615-D530-4C55-907C-3672F72E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Retrieval controls which evidence generation may use.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8B7409-48AC-48B1-AACE-6C57DF9F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04 / 20  Theory | Retrieve then generate</a:t>
            </a:r>
          </a:p>
        </p:txBody>
      </p:sp>
    </p:spTree>
    <p:extLst>
      <p:ext uri="{BB962C8B-B14F-4D97-AF65-F5344CB8AC3E}">
        <p14:creationId xmlns:p14="http://schemas.microsoft.com/office/powerpoint/2010/main" val="18935660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697D31-59B8-4DFA-BA8D-868CB80E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4E34F-A687-475E-95CC-CFE30FD3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BF1AC-D3C4-418F-A193-164337D4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Retrieval before semantic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29E8A-CCF5-4677-A6DD-D278FB5F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Retrieval มาก่อน semantic search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7AEA9-F6B4-436A-8835-619B038E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7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Retrieval selects approved evidence. Vector similarity is one way to do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1012F-0EC9-4EAF-8D95-12851EE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D2DE-03C6-47CA-99B3-7B21CA18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2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Exact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97B74-6F06-4923-B63F-2C2598DB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Find a known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0829A-4B35-46D8-B133-D68E65C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BCD5D-70E0-4063-BED8-004C57C3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62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43BAD-1D19-4B38-BDDF-8FC911F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33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Select permitted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D8641-E04D-45BF-9D9E-7E9CA22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6BC5D-A7E1-4071-BBA8-6C9F5A1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622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Keyword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B09DC-3AF7-4B1A-934E-D3118B3E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Match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4F7DF-D545-4045-A020-9FBA6BC5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326B7-DD7A-410D-86E0-0F1CC8F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Full-text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89F9B-9632-4C25-B3BF-F0CE11A7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14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Rank document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154E2-9F49-4B16-B010-76031CD5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62425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C309E-3EE5-425C-969E-04538EE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43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Vector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899B45-8597-4006-9AB6-7664F84A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14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Rank related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0193C-A4FB-44D0-A44F-ED351CBC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2425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DE616-D7E1-4951-8631-60A860E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Tool 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36CF5-320B-4FCA-80FA-C6A9811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14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Call an approved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1CD60-4446-4653-9C58-924CC4F8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864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Later agent labs use the same principle before planning or acting.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82BFB9-8D6E-4399-9B23-827CD82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05 / 20  Theory | Retrieval first principles</a:t>
            </a:r>
          </a:p>
        </p:txBody>
      </p:sp>
    </p:spTree>
    <p:extLst>
      <p:ext uri="{BB962C8B-B14F-4D97-AF65-F5344CB8AC3E}">
        <p14:creationId xmlns:p14="http://schemas.microsoft.com/office/powerpoint/2010/main" val="547576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BEBB5-214A-4B7A-BE11-22409D50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48D95-1F64-44A6-AFC6-FA50347B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78679-57CA-4393-A406-62EBAA93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Keyword search on the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E777F-D4E4-4D33-BB1D-0E40F557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การค้นคำสำคัญจากแหล่งข้อมูลจริง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5EC7A-D52F-4AF7-A38E-B74BE639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143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QUERY TERMS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60CB4-19C2-45BF-AB75-782F696C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5262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อำนาจการตัดสินใจของมนุษย์    รับผิดชอบ    การตัดสินใจ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E8224-2E64-473E-B262-A291D8FF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0382250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EDE85-6C8C-4501-BB26-DA891CF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0375"/>
            <a:ext cx="9239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UNESCO ระบุว่า “อำนาจการตัดสินใจของมนุษย์” ต้องเป็นประเด็นหลักเมื่อสถานศึกษานำ GenAI มาใช้ ผู้เรียนควรเข้าใจว่าเครื่องมือทำอะไรได้และทำอะไรไม่ได้อย่างน่าเชื่อถือ และมนุษย์ยังต้องรับผิดชอบต่อการตัดสินใจที่ส่งผลกระทบต่อตนเอง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6060C-D1F6-454A-BBF0-3A7DCD4D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71925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AFE14-38A9-4EAF-ACCD-F1D5FF4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71925"/>
            <a:ext cx="1924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49E29-0E4F-48B5-89A2-037DA5DC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71925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8B12B-3E5F-42C9-9645-82574878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00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Keyword retrieval is fast and inspectable when the learner uses words that occur in the source.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DFA84-B5C6-476F-9399-16034CDE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C8E2C-EAD9-46C5-9DC4-F127886B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06 / 20  Theory | Keyword retrieval</a:t>
            </a:r>
          </a:p>
        </p:txBody>
      </p:sp>
    </p:spTree>
    <p:extLst>
      <p:ext uri="{BB962C8B-B14F-4D97-AF65-F5344CB8AC3E}">
        <p14:creationId xmlns:p14="http://schemas.microsoft.com/office/powerpoint/2010/main" val="2843528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064E0-D0B3-47E8-BF66-A489BCFF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4F92D-94C4-4CB7-8CFD-0A49D459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52394-1D57-40B5-81B3-628017BF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When query terms do not overlap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A94C0-08BA-406F-8626-5ACAC330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เมื่อคำในคำถามไม่ซ้ำกับคำในแหล่งข้อมูล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0F31C-EC99-48B4-8991-181A4A3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4291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C1764-CE3F-4A0B-9F19-AD1E520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SOURCE WORDING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4CAD9-E19D-4977-BC7C-E2E4E1C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051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มนุษย์ยังต้องรับผิดชอบต่อการตัดสินใจ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F7821-9DEB-4F50-BD87-825500F7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Exact terms match the keyword index.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CA600-F335-47F6-B6E9-C5A8861F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4291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77C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BA619-8B70-40B0-BB14-63F7032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717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846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B63846"/>
                </a:solidFill>
                <a:latin typeface="Thonburi"/>
                <a:ea typeface="Thonburi"/>
                <a:cs typeface="Thonburi"/>
              </a:rPr>
              <a:t>PARAPHRASED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BE939-5E4F-4C0F-8815-912E1AC1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ใครเป็นผู้มีคำขาดในเรื่องนี้?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96DA00-10DE-4BF8-9B8E-80FDD1E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433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51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No indexed source terms appear in this query, even though the meaning remains related.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C505E-2847-4C1A-BBAA-52644B61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8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This gap motivates semantic retrieval.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88B42-EB2B-4DD5-85F3-FBC66B1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2B750-3636-4CD8-86D3-39C9D832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07 / 20  Theory | Keyword limitation</a:t>
            </a:r>
          </a:p>
        </p:txBody>
      </p:sp>
    </p:spTree>
    <p:extLst>
      <p:ext uri="{BB962C8B-B14F-4D97-AF65-F5344CB8AC3E}">
        <p14:creationId xmlns:p14="http://schemas.microsoft.com/office/powerpoint/2010/main" val="326275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0F3B0-E036-4601-88B2-69F42DC3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C5CC1-0251-48E8-A8F9-F7FED397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360C1-C0F6-47AB-A90D-FCC0A418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Semantic retrieval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CB51A-FBC2-4411-B549-34677422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การค้นคืนด้วยความหมาย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9DBBD-70CC-4EC3-B173-9E5E09BE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A semantic index can connect differently worded questions to related passages.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D7C1F-763A-4FC1-A553-6C0D813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3238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40CA6-9F36-4D72-A64F-058B5E84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14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“Who remains responsible?”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8883C-B5B0-4643-8F4D-201E875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3238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77C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A8D11-71D7-4F51-BD43-B703BDFD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“Who decides in the end?”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37505-6A0A-4586-BBD6-8F2BCAF8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8097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19050">
            <a:solidFill>
              <a:srgbClr val="2475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E312B-53EA-4825-B08A-5ECA8CEA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71875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query</a:t>
            </a:r>
          </a:p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embeddings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9A91D-DF18-4566-B33E-60930FA7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9925"/>
            <a:ext cx="2905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6FA8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05795-462A-4A44-9609-920F9A22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337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Related source chunk</a:t>
            </a:r>
          </a:p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human-centred-01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4267200" y="3290888"/>
            <a:ext cx="952500" cy="5857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4267200" y="3876675"/>
            <a:ext cx="952500" cy="823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6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29450" y="38766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DCCE0-37E2-4916-BDF9-3F5F7D5E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Similarity ranks candidates. It does not prove that the source fully supports the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A3583-9C07-4DC3-9B0B-54BE8305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A248B-8ED2-42AF-8C14-59441FCD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08 / 20  Theory | Semantic retrieval</a:t>
            </a:r>
          </a:p>
        </p:txBody>
      </p:sp>
    </p:spTree>
    <p:extLst>
      <p:ext uri="{BB962C8B-B14F-4D97-AF65-F5344CB8AC3E}">
        <p14:creationId xmlns:p14="http://schemas.microsoft.com/office/powerpoint/2010/main" val="1111065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526CE-824E-43AC-AEDB-8C96470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37304-2FE9-4BA7-9AA1-4B6572FE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D6FF7-B4A0-4013-A9E1-F62C5D7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PDF ingestion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E182E-0CE2-401F-8547-377B627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การนำเข้า 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48B8A-D237-499D-889F-6E685EE5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The system keeps text together with the metadata needed for citation.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AB785-FE51-43DC-8E25-C737B0C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3714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74250-8553-46C1-9B30-E317730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62250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2400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4D34D-5E8C-4D9E-A728-C1B93FA9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78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Guidance for generative AI</a:t>
            </a:r>
          </a:p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in education and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D3E04-3FA6-4C9D-8943-A2CDAD0F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7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00AD2-22C8-4A7C-8B89-36DE5B68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Page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5D58-4D10-42B2-A0D8-D2F8FCB3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Human-centred approach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6F686-5A31-4D6D-B227-E913B43C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3619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475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C9B4E-AA4E-4120-9C32-163E4FC5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Extracted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A5F53-977A-4937-91F8-5EE52E35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81375"/>
            <a:ext cx="27813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69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source_file: unesco-genai-guidance.pdf</a:t>
            </a:r>
          </a:p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page: 21</a:t>
            </a:r>
          </a:p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source_url: unesdoc.unesco.org</a:t>
            </a:r>
          </a:p>
          <a:p xmlns:a="http://schemas.openxmlformats.org/drawingml/2006/main">
            <a:pPr>
              <a:def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license: CC BY-SA 3.0 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6C651-2CD9-4D03-9182-F6241819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9"/>
          </a:solidFill>
          <a:ln xmlns:a="http://schemas.openxmlformats.org/drawingml/2006/main" w="0">
            <a:noFill/>
          </a:ln>
        </p:spPr>
      </p:sp>
      <p:cxnSp>
        <p:nvCxnSpPr>
          <p:cNvPr id="35" name=""/>
          <p:cNvCxnSpPr>
            <a:stCxn xmlns:a="http://schemas.openxmlformats.org/drawingml/2006/main" id="1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57875" y="3571875"/>
            <a:ext cx="11906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DDE83-C83A-49A6-92EB-A7C28A52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Ingest once. Preserve enough metadata to let a learner open the original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D910B-9AD1-4F77-96F7-D5A1471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62A74-6F74-4C1B-B513-EF598888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09 / 20  Theory | Ingestion</a:t>
            </a:r>
          </a:p>
        </p:txBody>
      </p:sp>
    </p:spTree>
    <p:extLst>
      <p:ext uri="{BB962C8B-B14F-4D97-AF65-F5344CB8AC3E}">
        <p14:creationId xmlns:p14="http://schemas.microsoft.com/office/powerpoint/2010/main" val="6472230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140BD-F0A9-4731-B122-98F7D4EF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2ECF-60EA-4F8F-8244-097954CA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B1EF1-CC99-4F32-AE81-A6428775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Chunking a long document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6D36-8AA7-4BE2-901F-CA56A045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การแบ่งเอกสารยาวออกเป็น chunks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F4EC1-D26F-4C14-B79A-507F813E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A page may contain more text than retrieval or generation should handle at once.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00E14-3A81-4421-91B4-F252F7A5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762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B2564-3F42-4C55-8E10-F949649B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860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Page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26FE1-664C-4B76-8CC9-BE792B14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2047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Human-centred approach, human agency, transparency and public accountability…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D2D55-04F9-4173-9B47-1C2E4A55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62250"/>
            <a:ext cx="1809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992B6-4E9C-4C99-AA30-877ED98B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09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unesco-genai-guidance-2023-p21-c01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168D3-E350-41F9-9D13-C80F2E47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5282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11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Human-centred approach</a:t>
            </a:r>
          </a:p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 agency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0CEDB-3F5C-4A41-80B1-44F8315F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1809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77C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5DC8C-5611-42DA-B4EE-8D49C2E2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09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unesco-genai-guidance-2023-p21-c02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A73A4-C056-4815-8443-748A029C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282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 agency</a:t>
            </a:r>
          </a:p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transparency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F959C-F1CB-4D74-B143-68DE717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1809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3DDB64-0AD4-4CCC-80BD-DB990A3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099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unesco-genai-guidance-2023-p21-c03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A34EC-F747-47FC-83D1-CFC212A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5282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969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ethical and meaningful</a:t>
            </a:r>
          </a:p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use of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7E1EE-E890-4842-9170-9E54AC8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The repeated phrases show overlap. Overlap helps keep a complete idea near a chunk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F6961-E05E-4D49-9EB8-7F65CCB1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2F033-38A7-4AEF-BF57-001F5D68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10 / 20  Theory | Chunking</a:t>
            </a:r>
          </a:p>
        </p:txBody>
      </p:sp>
    </p:spTree>
    <p:extLst>
      <p:ext uri="{BB962C8B-B14F-4D97-AF65-F5344CB8AC3E}">
        <p14:creationId xmlns:p14="http://schemas.microsoft.com/office/powerpoint/2010/main" val="3868367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4763D-276F-4D6A-A645-16ED32EA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6A667-34C9-41ED-ABCB-D921A93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E2390-F3F2-4E7E-9A10-50BB535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Embeddings and similarity 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ECD94-E467-457A-A612-A6990D4F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Embedding และการจัดอันดับความคล้าย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CD048-6281-40C3-9F4A-827FE89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The query and each chunk receive numeric representations. Similarity orders candidates for inspection.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AC876-8D04-4163-9DFF-727E4212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3143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475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2A15E-1D8C-4853-A24A-6E39089A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8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Query embedding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40ECA-3898-46EC-A80B-2AA82BF4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6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11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human   agency   decision</a:t>
            </a:r>
          </a:p>
          <a:p xmlns:a="http://schemas.openxmlformats.org/drawingml/2006/main">
            <a:pPr>
              <a:def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[vector values]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57CE3-B4F3-4E99-A413-A9EBF5E2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4095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04CFC-2799-4CD5-A6EF-41753595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81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275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Rank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907F6-AA9D-4336-9235-0077C19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81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human-centred-01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37C70-18E1-4620-AE40-F292EBD1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095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7DD52-CA03-4DD6-A698-5ED19886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275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D9C4B-12DF-4AB8-96FA-4A510762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909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unesco…p21-c02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A1E27-495E-4D80-BBEE-B87C6A28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095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698FD-672B-4F65-AE1B-C0E98A72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275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Rank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20CEC-C5D8-4792-B8AE-A5414EBC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unesco…p21-c01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03A8C-5760-4716-A876-D2C0E24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Retrieve the top candidates, then inspect whether they really answer the question.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6116A-105C-41AF-9C64-0D4A5125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D2B17-E695-4A9A-9E34-CED7F07B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11 / 20  Theory | Similarity</a:t>
            </a:r>
          </a:p>
        </p:txBody>
      </p:sp>
    </p:spTree>
    <p:extLst>
      <p:ext uri="{BB962C8B-B14F-4D97-AF65-F5344CB8AC3E}">
        <p14:creationId xmlns:p14="http://schemas.microsoft.com/office/powerpoint/2010/main" val="1925369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49EC8-7DB7-46E8-A578-1EEF8E0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425A4-1C9B-47C2-B5E7-BA61ECEE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6A88E-3D9D-4A2D-B257-C82E56B8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Lab 1: Retrieval basics in Colab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4E7F9-1859-4305-B440-5D0ACB59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Lab 1: พื้นฐาน Retrieval ใน Colab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C8270-0331-49BB-8902-203DA34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Open the notebook after the theory walkthrough. Reproduce the chain from PDF to ranked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2CC8A-676D-476F-B77E-C0873CD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5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51DC8-62BB-4CBF-8E83-7497B2D1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337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91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LIVE</a:t>
            </a:r>
          </a:p>
          <a:p xmlns:a="http://schemas.openxmlformats.org/drawingml/2006/main">
            <a:pPr>
              <a:def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C01BC-CC0D-4118-8AF0-66B9905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385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7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replace after publishing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43401-C74C-4A28-8CCC-F3C91A0F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67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Colab notebook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BD262-F0BF-4ADB-91EA-10992A73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76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PASTE_COLAB_URL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E0C5B-1BF6-437B-8775-39669CC2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957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Upload the UNESCO PDF, inspect page metadata, chunk it, compare keyword and semantic retrieval, then inspect citations.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0B5A6-BC5D-4E1C-B068-9F7B1BB6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86050"/>
            <a:ext cx="30003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77C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1902C-5867-407A-AF90-517DDFA5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Learner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C108D-C79E-4AFA-9B0B-C4A678FE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852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A retrieved chunk</a:t>
            </a:r>
          </a:p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Page-aware citation</a:t>
            </a:r>
          </a:p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One observation about a retrieval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B2569-4F9A-4FD6-B3A9-1711C8BE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292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4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Replace the placeholder only after the live notebook link opens in an incognito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6FB04-5440-4BF7-9487-F4F5734C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12 / 20  Lab 1 | Colab</a:t>
            </a:r>
          </a:p>
        </p:txBody>
      </p:sp>
    </p:spTree>
    <p:extLst>
      <p:ext uri="{BB962C8B-B14F-4D97-AF65-F5344CB8AC3E}">
        <p14:creationId xmlns:p14="http://schemas.microsoft.com/office/powerpoint/2010/main" val="2996546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671E6-8E47-43B0-B2D6-77B6AE6C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71CE9-1F2C-44D1-AE8F-1F910FB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613AD-FD3C-448A-9560-DFDFBE3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Choosing a retrieval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0059F-CC45-4D4F-B872-520AA5F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การเลือกกลยุทธ์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984C8-6200-456F-85B7-92519158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Choose the method that fits the query and evidence, rather than choosing a vector database by default.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904875" y="2571750"/>
          <a:ext xmlns:a="http://schemas.openxmlformats.org/drawingml/2006/main" cx="10334625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44875"/>
                <a:gridCol w="3444875"/>
                <a:gridCol w="3444875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Need / ความต้องการ</a:t>
                      </a:r>
                    </a:p>
                  </a:txBody>
                  <a:tcPr marL="91440" marR="91440" marT="45720" marB="45720"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Good first choice</a:t>
                      </a:r>
                    </a:p>
                  </a:txBody>
                  <a:tcPr marL="91440" marR="91440" marT="45720" marB="45720">
                    <a:solidFill>
                      <a:srgbClr val="183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Why</a:t>
                      </a:r>
                    </a:p>
                  </a:txBody>
                  <a:tcPr marL="91440" marR="91440" marT="45720" marB="45720">
                    <a:solidFill>
                      <a:srgbClr val="18314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Known document or record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Exact lookup or filter</a:t>
                      </a:r>
                    </a:p>
                  </a:txBody>
                  <a:tcPr marL="91440" marR="91440" marT="45720" marB="4572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Fast and precise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Words matter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Keyword or full-text</a:t>
                      </a:r>
                    </a:p>
                  </a:txBody>
                  <a:tcPr marL="91440" marR="91440" marT="45720" marB="4572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Inspectable lexical match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Meaning differs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Semantic or hybrid</a:t>
                      </a:r>
                    </a:p>
                  </a:txBody>
                  <a:tcPr marL="91440" marR="91440" marT="45720" marB="45720">
                    <a:solidFill>
                      <a:srgbClr val="FFF0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Handles paraphrase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Multi-step investigation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Agentic retrieval</a:t>
                      </a:r>
                    </a:p>
                  </a:txBody>
                  <a:tcPr marL="91440" marR="91440" marT="45720" marB="45720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14F"/>
                          </a:solidFill>
                          <a:latin typeface="Thonburi"/>
                          <a:ea typeface="Thonburi"/>
                          <a:cs typeface="Thonburi"/>
                        </a:rPr>
                        <a:t>Can reformulate and compare evidence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1958A-0803-402A-9B92-C0B9C8A1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All methods should return evidence that the learner can inspect.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0BD6A-7C5C-4087-ABDF-D5DF8042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13 / 20  Theory | Retrieval choices</a:t>
            </a:r>
          </a:p>
        </p:txBody>
      </p:sp>
    </p:spTree>
    <p:extLst>
      <p:ext uri="{BB962C8B-B14F-4D97-AF65-F5344CB8AC3E}">
        <p14:creationId xmlns:p14="http://schemas.microsoft.com/office/powerpoint/2010/main" val="1650190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0FE67-3BD3-4FC4-9118-961FD13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974AC-F2AA-42F9-BBEA-3471144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8117D-019F-4346-9250-955C3F36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Retrieved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E958E-1A9C-40D9-B5FB-0EE1A44A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บริบทที่ระบบเลือกก่อนสร้างคำตอบ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C78C0-3E0F-4AC6-8CB8-289B4D2E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Generation should receive a small evidence window, not the whole document collection.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AA5DD-9DAF-4D0A-897C-65ADCF4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D25FC-3E93-46E1-A077-63879F84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765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RETRIEVED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02C46-F44C-4642-85EC-F1A6824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3375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5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Title: Human-centred use of GenAI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Page: 21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Chunk: human-centred-01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People remain responsible for decisions that affect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BE439-72FE-4BDA-A399-13A4E0EA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3333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6FA8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76AB8-F1FA-4862-B5FE-5C4D1642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16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Generation receives</a:t>
            </a:r>
          </a:p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question + retrieved context</a:t>
            </a:r>
          </a:p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+ citation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B2584-00F8-4124-A026-6E971C2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338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5B9"/>
          </a:solidFill>
          <a:ln xmlns:a="http://schemas.openxmlformats.org/drawingml/2006/main" w="0">
            <a:noFill/>
          </a:ln>
        </p:spPr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53125" y="3743325"/>
            <a:ext cx="619125" cy="619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874B1-526F-4065-851F-2611A38A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This constraint helps the answer stay grounded in the approved corpus.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586B6-A2AC-46FC-9205-CACC691F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C85C3-A533-483B-8796-1F49BD9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14 / 20  Theory | Retrieved context</a:t>
            </a:r>
          </a:p>
        </p:txBody>
      </p:sp>
    </p:spTree>
    <p:extLst>
      <p:ext uri="{BB962C8B-B14F-4D97-AF65-F5344CB8AC3E}">
        <p14:creationId xmlns:p14="http://schemas.microsoft.com/office/powerpoint/2010/main" val="20087104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03870C-4640-4DC8-8ACE-AD3D35CC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EAAD9-8224-4945-A89D-980ECA6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0D668-F053-4AFE-BB12-E2079669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Citation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40BAE-93D9-44E8-95AC-BEBAA420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พฤติกรรมการอ้างอิง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14A96-386E-4FC4-BC9B-B31B3A7B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4381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0C5EA-D5F7-4FAA-893B-35EE7B3F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336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67251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267251"/>
                </a:solidFill>
                <a:latin typeface="Thonburi"/>
                <a:ea typeface="Thonburi"/>
                <a:cs typeface="Thonburi"/>
              </a:rPr>
              <a:t>GROUNDED ANSWER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4ED9C-C930-4DC4-8728-65645F4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4800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179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9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People remain responsible for education decisions that affect them.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E2C3E-8A51-4CC1-8501-71E1AFD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290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69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The assistant must show where this claim came from.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1A5FE-49F2-4AE8-8DD6-7B03B34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3810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475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5B6CE-AEE9-4AFC-A8F8-B1BD7E3A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79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975" b="1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SOURCE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DAEC3-E3A8-4250-A1A9-E71F1687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3143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Human-centred use of GenAI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UNESCO Guidance for generative AI in education and research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Page 21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Chunk human-centred-01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Similarity score</a:t>
            </a:r>
          </a:p>
          <a:p xmlns:a="http://schemas.openxmlformats.org/drawingml/2006/main">
            <a:pPr>
              <a:def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Source URL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8EBE8-D68F-449D-A112-20774A9F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Citation connects an answer claim to inspectable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78D3D-33CE-4C4D-B18A-47AC28B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1057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UNESCO, Guidance for generative AI in education and research, p. 21  |  CC BY-SA 3.0 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9C405-9C0A-4D0D-991E-5B43AB64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15 / 20  Theory | Citations</a:t>
            </a:r>
          </a:p>
        </p:txBody>
      </p:sp>
    </p:spTree>
    <p:extLst>
      <p:ext uri="{BB962C8B-B14F-4D97-AF65-F5344CB8AC3E}">
        <p14:creationId xmlns:p14="http://schemas.microsoft.com/office/powerpoint/2010/main" val="6005300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4C0AB1-072B-4AAA-B0F9-BF44C68E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8A4B-FE0F-4BDF-A812-9378199B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962FA-1C6B-4BCA-8714-15E1CFB5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Safe answer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80EE7-72EB-4D8D-A6E5-AAE3E1AD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สถานะคำตอบที่ปลอดภัย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BB816-16CC-4D78-81C6-ED12CA0B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The application should explain what it knows, what it cannot support, and when it needs a narrower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2CDE7-EF52-40E1-BE0F-31F35727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672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0AFA1-51B3-4C22-B0D8-736137E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67251"/>
                </a:solidFill>
                <a:latin typeface="Thonburi"/>
                <a:ea typeface="Thonburi"/>
                <a:cs typeface="Thonburi"/>
              </a:defRPr>
            </a:pPr>
            <a:r>
              <a:rPr sz="1875" b="1" i="0">
                <a:solidFill>
                  <a:srgbClr val="267251"/>
                </a:solidFill>
                <a:latin typeface="Thonburi"/>
                <a:ea typeface="Thonburi"/>
                <a:cs typeface="Thonburi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E5A92-4F51-45D1-BB3E-A64DE048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05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5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Evidence supports the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588DD-C866-4859-B4EB-3861B9E4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77C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67BE2-8D89-4097-8CC0-D6DA57A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86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77C16"/>
                </a:solidFill>
                <a:latin typeface="Thonburi"/>
                <a:ea typeface="Thonburi"/>
                <a:cs typeface="Thonburi"/>
              </a:defRPr>
            </a:pPr>
            <a:r>
              <a:rPr sz="1875" b="1" i="0">
                <a:solidFill>
                  <a:srgbClr val="F77C16"/>
                </a:solidFill>
                <a:latin typeface="Thonburi"/>
                <a:ea typeface="Thonburi"/>
                <a:cs typeface="Thonburi"/>
              </a:rPr>
              <a:t>ambiguous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617A8-FEE1-4070-8174-3396359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05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3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Ask for a narrower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B2CF1-8590-4D12-8726-866E30BE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952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BEC"/>
          </a:solidFill>
          <a:ln xmlns:a="http://schemas.openxmlformats.org/drawingml/2006/main" w="9525">
            <a:solidFill>
              <a:srgbClr val="B638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357B5-6EAC-430D-A643-B5BB8B18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B63846"/>
                </a:solidFill>
                <a:latin typeface="Thonburi"/>
                <a:ea typeface="Thonburi"/>
                <a:cs typeface="Thonburi"/>
              </a:defRPr>
            </a:pPr>
            <a:r>
              <a:rPr sz="1875" b="1" i="0">
                <a:solidFill>
                  <a:srgbClr val="B63846"/>
                </a:solidFill>
                <a:latin typeface="Thonburi"/>
                <a:ea typeface="Thonburi"/>
                <a:cs typeface="Thonburi"/>
              </a:rPr>
              <a:t>not_found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B5B68-92B8-4621-AEB8-1B662AE8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08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425" b="0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Decline unsupported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A80A-3BA1-4505-8B0C-F61DC513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292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Test all three states before submission.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DC9D9-AAC3-486B-A1FD-27F40EB2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16 / 20  Theory | Safe answer behavior</a:t>
            </a:r>
          </a:p>
        </p:txBody>
      </p:sp>
    </p:spTree>
    <p:extLst>
      <p:ext uri="{BB962C8B-B14F-4D97-AF65-F5344CB8AC3E}">
        <p14:creationId xmlns:p14="http://schemas.microsoft.com/office/powerpoint/2010/main" val="5429303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83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DB0FF-C54C-4A23-BBF5-555AF5CE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73A5C-819B-4924-810C-57D793E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19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908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4350" b="1" i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07B88-4AEE-4BC3-B202-0188C79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DDEBFA"/>
                </a:solidFill>
                <a:latin typeface="Thonburi"/>
                <a:ea typeface="Thonburi"/>
                <a:cs typeface="Thonburi"/>
              </a:defRPr>
            </a:pPr>
            <a:r>
              <a:rPr sz="2325" b="0" i="0">
                <a:solidFill>
                  <a:srgbClr val="DDEBFA"/>
                </a:solidFill>
                <a:latin typeface="Thonburi"/>
                <a:ea typeface="Thonburi"/>
                <a:cs typeface="Thonburi"/>
              </a:rPr>
              <a:t>พัก 15 นาที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7850B-928B-4EB2-896C-4ACAA2F1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950" b="0" i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Next: architecture choices for a RAG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8033C-0979-4970-997A-24B7E17A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DDEBFA"/>
                </a:solidFill>
                <a:latin typeface="Thonburi"/>
                <a:ea typeface="Thonburi"/>
                <a:cs typeface="Thonburi"/>
              </a:defRPr>
            </a:pPr>
            <a:r>
              <a:rPr sz="1575" b="0" i="0">
                <a:solidFill>
                  <a:srgbClr val="DDEBFA"/>
                </a:solidFill>
                <a:latin typeface="Thonburi"/>
                <a:ea typeface="Thonburi"/>
                <a:cs typeface="Thonburi"/>
              </a:rPr>
              <a:t>ต่อไป: การเลือกองค์ประกอบของ RAG application</a:t>
            </a:r>
          </a:p>
        </p:txBody>
      </p:sp>
    </p:spTree>
    <p:extLst>
      <p:ext uri="{BB962C8B-B14F-4D97-AF65-F5344CB8AC3E}">
        <p14:creationId xmlns:p14="http://schemas.microsoft.com/office/powerpoint/2010/main" val="9583857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71A59-B53C-4CA2-B5D9-10F9D2BA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6618F-2C45-4E89-BFD2-39B1CDFC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F6D1F-2FA0-436C-84CF-9470230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Generic web application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89579-BEB0-484B-90B1-B24D9707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สถาปัตยกรรมเว็บแอปพลิเคชันทั่วไป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5BE7B-CE21-4BFD-BBDE-1519976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RAG applications still need the ordinary responsibilities of a web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07E8A-3C3C-46E0-AED1-379B6F9A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9F452-238D-4F28-97BE-FC179D27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A6B07-D162-423C-B7B8-1F9A7811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16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pages, forms,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0B844-C38D-4132-B94D-5E915775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0480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131E9-B900-4B99-8FD5-AC67E664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App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CF2F9-7751-4632-9602-F591D09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8576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59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routes, auth, business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96999-B544-4906-BB31-4C7E2F48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49426-B4BD-4DB9-9AD2-91E1E4E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33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Data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D2FAE-0423-4465-8F41-CFE5964C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records, files,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2A30A-AC68-49EE-8120-7D3D6A7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48000"/>
            <a:ext cx="2095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11276-4BFB-463C-9F52-26489B7D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33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Operations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145B9-7353-4E6A-8395-5149215B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5762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734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20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secrets, logs, deployment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76550" y="37385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10225" y="37385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43900" y="37385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BBBF4-2E9D-4BEE-9A3A-8E0DC977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6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RAG adds retrieval and model services to this foundation.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276E4-6F56-4652-B9A8-2682725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18 / 20  Architecture |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4358137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AD76E-CCB3-4BC1-97CF-AA9355C3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7AFAD-C091-495C-A623-75AD71E1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82340-384E-499D-8A91-83F85BEB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RAG application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36D6B-8EBB-4B4C-922F-CF479DD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สถาปัตยกรรม RAG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3512B-0E96-4DBE-9F94-D24DAB4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57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Components should fit your data, privacy needs, latency, cost, and operating capacity.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D42F8-6035-471C-AD39-BE3B678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809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FBA78-508F-46EA-A8C2-D9BADB5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99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Web client</a:t>
            </a:r>
          </a:p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chat + citations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33CB2-235F-4A59-96AF-46C2C9EA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2000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475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636F0-B8E5-4B3D-ADB3-117CA166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09975"/>
            <a:ext cx="160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17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RAG service</a:t>
            </a:r>
          </a:p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retrieve + assemble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DA169-8EB8-417A-BAE5-50660C99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048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0E1"/>
          </a:solidFill>
          <a:ln xmlns:a="http://schemas.openxmlformats.org/drawingml/2006/main" w="9525">
            <a:solidFill>
              <a:srgbClr val="F77C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7F6B6-BC0F-405C-BE83-CD0D073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670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Knowledge stores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551ED-63A7-406C-8982-4213C229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95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47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Normal database    Full-text index    Vector 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4634E-DAE8-45DA-916A-7F0EEC12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048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6FA88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081C5-A5C9-4EF9-B848-B967CCBA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243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079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7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LLM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92F1A-F15B-4F9D-B6D2-4970D154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53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143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Hosted API    OpenAI-compatible    Self-hosted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39052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238750" y="3024188"/>
            <a:ext cx="228600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238750" y="3905250"/>
            <a:ext cx="2286000" cy="976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75B9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AF52F-C268-4A25-B589-B09DD649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816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50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Lab 2 begins with a local corpus and no API key so that retrieval behavior stays visible.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2EA9B-BFC9-4299-91E5-B502BAA3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19 / 20  Architecture | RAG components</a:t>
            </a:r>
          </a:p>
        </p:txBody>
      </p:sp>
    </p:spTree>
    <p:extLst>
      <p:ext uri="{BB962C8B-B14F-4D97-AF65-F5344CB8AC3E}">
        <p14:creationId xmlns:p14="http://schemas.microsoft.com/office/powerpoint/2010/main" val="17904931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D7953-5221-4F24-8F7F-4257E6A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7C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C8D79-62A1-4B24-A7FA-4CCC568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AIAT × CAMT  |  Trustworthy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4194-3407-4BA7-91C8-FD4EF0B4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2550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Lab 2: Build the RAG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855AF-4E6D-42AD-B73B-E615D7E8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620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Lab 2: สร้าง RAG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8ACEA-9CAC-4506-A24C-2C5315EB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6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Create your repository through GitHub Classroom, then build and test the local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F431C-330B-4B88-A7A3-A0025D5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5B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AEE90-DEFA-4D70-AFC7-AA3007BA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33725"/>
            <a:ext cx="106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91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LIVE</a:t>
            </a:r>
          </a:p>
          <a:p xmlns:a="http://schemas.openxmlformats.org/drawingml/2006/main">
            <a:pPr>
              <a:def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2025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A238A-833D-4DC8-A3EF-4CC6DE6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8385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7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replace after publishing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2D1C3-F45D-411C-AA5A-63E54B38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67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GitHub Classroom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70788-1966-4277-A6A8-AC1ED8B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76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defRPr>
            </a:pPr>
            <a:r>
              <a:rPr sz="1200" b="1" i="0">
                <a:solidFill>
                  <a:srgbClr val="2475B9"/>
                </a:solidFill>
                <a:latin typeface="Thonburi"/>
                <a:ea typeface="Thonburi"/>
                <a:cs typeface="Thonburi"/>
              </a:rPr>
              <a:t>PASTE_GITHUB_CLASSROOM_URL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DE13B-DC29-4616-BB37-680E8B3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957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1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Create the repository, run the local app, record evidence for grounded, ambiguous, and not-found results, then commit rag-v1.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102322-C6E5-4F3C-B9E3-F0ABE0CC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28900"/>
            <a:ext cx="290512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2475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C15A5-808D-4B76-AEEA-38523378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7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Lab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69230-4E26-4058-98D0-FB81A2AC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852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A local RAG assistant</a:t>
            </a:r>
          </a:p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Inspectable citations</a:t>
            </a:r>
          </a:p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Three tested answer states</a:t>
            </a:r>
          </a:p>
          <a:p xmlns:a="http://schemas.openxmlformats.org/drawingml/2006/main">
            <a:pPr>
              <a:def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1350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Evidence log and rag-v1 commit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FFB09-C1A2-4238-AE3D-E4012C2C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24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8314F"/>
                </a:solidFill>
                <a:latin typeface="Thonburi"/>
                <a:ea typeface="Thonburi"/>
                <a:cs typeface="Thonburi"/>
              </a:defRPr>
            </a:pPr>
            <a:r>
              <a:rPr sz="1425" b="1" i="0">
                <a:solidFill>
                  <a:srgbClr val="18314F"/>
                </a:solidFill>
                <a:latin typeface="Thonburi"/>
                <a:ea typeface="Thonburi"/>
                <a:cs typeface="Thonburi"/>
              </a:rPr>
              <a:t>Replace this QR placeholder only after the assignment URL resolves in an incognito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2FAE5-555B-4BDE-A236-AFB24647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579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defRPr>
            </a:pPr>
            <a:r>
              <a:rPr sz="825" b="0" i="0">
                <a:solidFill>
                  <a:srgbClr val="5A6F89"/>
                </a:solidFill>
                <a:latin typeface="Thonburi"/>
                <a:ea typeface="Thonburi"/>
                <a:cs typeface="Thonburi"/>
              </a:rPr>
              <a:t>20 / 20  Lab 2 | GitHub Classroom</a:t>
            </a:r>
          </a:p>
        </p:txBody>
      </p:sp>
    </p:spTree>
    <p:extLst>
      <p:ext uri="{BB962C8B-B14F-4D97-AF65-F5344CB8AC3E}">
        <p14:creationId xmlns:p14="http://schemas.microsoft.com/office/powerpoint/2010/main" val="459131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2026-09-04T16:29:50.1580000Z</dcterms:created>
  <dcterms:modified xsi:type="dcterms:W3CDTF">2026-09-04T16:29:50.1580000Z</dcterms:modified>
</coreProperties>
</file>